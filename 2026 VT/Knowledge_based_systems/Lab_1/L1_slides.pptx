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8" r:id="rId2"/>
    <p:sldId id="433" r:id="rId3"/>
    <p:sldId id="434" r:id="rId4"/>
    <p:sldId id="438" r:id="rId5"/>
    <p:sldId id="435" r:id="rId6"/>
    <p:sldId id="436" r:id="rId7"/>
    <p:sldId id="441" r:id="rId8"/>
    <p:sldId id="442" r:id="rId9"/>
    <p:sldId id="443" r:id="rId10"/>
    <p:sldId id="444" r:id="rId11"/>
    <p:sldId id="446" r:id="rId12"/>
    <p:sldId id="445" r:id="rId13"/>
    <p:sldId id="439" r:id="rId14"/>
    <p:sldId id="447" r:id="rId15"/>
  </p:sldIdLst>
  <p:sldSz cx="9144000" cy="6858000" type="screen4x3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6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0" autoAdjust="0"/>
  </p:normalViewPr>
  <p:slideViewPr>
    <p:cSldViewPr>
      <p:cViewPr varScale="1">
        <p:scale>
          <a:sx n="176" d="100"/>
          <a:sy n="176" d="100"/>
        </p:scale>
        <p:origin x="2592" y="192"/>
      </p:cViewPr>
      <p:guideLst>
        <p:guide orient="horz" pos="1096"/>
        <p:guide pos="2879"/>
      </p:guideLst>
    </p:cSldViewPr>
  </p:slideViewPr>
  <p:outlineViewPr>
    <p:cViewPr>
      <p:scale>
        <a:sx n="33" d="100"/>
        <a:sy n="33" d="100"/>
      </p:scale>
      <p:origin x="0" y="3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97A32-862F-0646-9B82-9528E65EC396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A4AF5-49BF-554B-9274-5ECC6E9ABA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841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9pPr>
          </a:lstStyle>
          <a:p>
            <a:fld id="{95AC20B2-FBEA-4932-AED0-FFAC46FD219E}" type="slidenum">
              <a:rPr lang="sv-SE" sz="1200" smtClean="0">
                <a:latin typeface="Arial" charset="0"/>
              </a:rPr>
              <a:pPr/>
              <a:t>1</a:t>
            </a:fld>
            <a:endParaRPr lang="sv-SE" sz="1200">
              <a:latin typeface="Arial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4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 dirty="0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047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>
            <a:lvl1pPr algn="r"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1864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033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907704" y="485800"/>
            <a:ext cx="6779096" cy="1143000"/>
          </a:xfrm>
        </p:spPr>
        <p:txBody>
          <a:bodyPr>
            <a:normAutofit/>
          </a:bodyPr>
          <a:lstStyle>
            <a:lvl1pPr algn="r"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734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70911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358032"/>
            <a:ext cx="4040188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709118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358032"/>
            <a:ext cx="4041775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265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051720" y="485800"/>
            <a:ext cx="6635080" cy="1143000"/>
          </a:xfrm>
        </p:spPr>
        <p:txBody>
          <a:bodyPr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5390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705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63888" y="836712"/>
            <a:ext cx="5122912" cy="5472608"/>
          </a:xfrm>
        </p:spPr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618257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94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107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1143000"/>
          </a:xfrm>
        </p:spPr>
        <p:txBody>
          <a:bodyPr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391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72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/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2123728" y="485800"/>
            <a:ext cx="65630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2026-01-15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753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demy.com/learn/learn-r" TargetMode="External"/><Relationship Id="rId2" Type="http://schemas.openxmlformats.org/officeDocument/2006/relationships/hyperlink" Target="https://www.r-project.org/abou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r-tutorials.com/" TargetMode="External"/><Relationship Id="rId4" Type="http://schemas.openxmlformats.org/officeDocument/2006/relationships/hyperlink" Target="https://www.tutorialspoint.com/r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1">
            <a:extLst>
              <a:ext uri="{FF2B5EF4-FFF2-40B4-BE49-F238E27FC236}">
                <a16:creationId xmlns:a16="http://schemas.microsoft.com/office/drawing/2014/main" id="{9B242571-2C1F-F043-9C8E-131E445005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189" y="3409335"/>
            <a:ext cx="1946543" cy="1850618"/>
          </a:xfrm>
          <a:prstGeom prst="rect">
            <a:avLst/>
          </a:prstGeom>
        </p:spPr>
      </p:pic>
      <p:sp>
        <p:nvSpPr>
          <p:cNvPr id="4" name="Rubrik 1">
            <a:extLst>
              <a:ext uri="{FF2B5EF4-FFF2-40B4-BE49-F238E27FC236}">
                <a16:creationId xmlns:a16="http://schemas.microsoft.com/office/drawing/2014/main" id="{4A4D0380-A808-4448-9DF7-C116FA7F411A}"/>
              </a:ext>
            </a:extLst>
          </p:cNvPr>
          <p:cNvSpPr txBox="1">
            <a:spLocks/>
          </p:cNvSpPr>
          <p:nvPr/>
        </p:nvSpPr>
        <p:spPr>
          <a:xfrm>
            <a:off x="683568" y="1700808"/>
            <a:ext cx="7772400" cy="1470025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GB" b="1" dirty="0"/>
              <a:t>Knowledge-Based Systems in Bioinformatics</a:t>
            </a:r>
            <a:r>
              <a:rPr lang="sv-SE" dirty="0"/>
              <a:t> </a:t>
            </a:r>
          </a:p>
        </p:txBody>
      </p:sp>
      <p:sp>
        <p:nvSpPr>
          <p:cNvPr id="5" name="Underrubrik 2">
            <a:extLst>
              <a:ext uri="{FF2B5EF4-FFF2-40B4-BE49-F238E27FC236}">
                <a16:creationId xmlns:a16="http://schemas.microsoft.com/office/drawing/2014/main" id="{3B727CDB-5CA9-A14F-986B-4152CE058CEA}"/>
              </a:ext>
            </a:extLst>
          </p:cNvPr>
          <p:cNvSpPr txBox="1">
            <a:spLocks/>
          </p:cNvSpPr>
          <p:nvPr/>
        </p:nvSpPr>
        <p:spPr>
          <a:xfrm>
            <a:off x="3851920" y="4869160"/>
            <a:ext cx="5040560" cy="17580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 err="1">
                <a:latin typeface="+mn-lt"/>
              </a:rPr>
              <a:t>Doǧa</a:t>
            </a:r>
            <a:r>
              <a:rPr lang="en-US" sz="1400" dirty="0">
                <a:latin typeface="+mn-lt"/>
              </a:rPr>
              <a:t> Yalova 		doga.yalova.3905@student.uu.se</a:t>
            </a:r>
          </a:p>
          <a:p>
            <a:pPr marL="0" indent="0">
              <a:buNone/>
            </a:pPr>
            <a:endParaRPr lang="en-US" sz="1400" dirty="0">
              <a:latin typeface="+mn-lt"/>
            </a:endParaRPr>
          </a:p>
          <a:p>
            <a:pPr marL="0" indent="0">
              <a:buNone/>
            </a:pPr>
            <a:r>
              <a:rPr lang="en-US" sz="1400" dirty="0">
                <a:latin typeface="+mn-lt"/>
              </a:rPr>
              <a:t>Matthew Redmayne 	matthew.redmayne.0786@student.uu.se</a:t>
            </a:r>
          </a:p>
          <a:p>
            <a:pPr marL="0" indent="0">
              <a:buNone/>
            </a:pPr>
            <a:endParaRPr lang="en-US" sz="1400" dirty="0">
              <a:latin typeface="+mn-lt"/>
            </a:endParaRPr>
          </a:p>
          <a:p>
            <a:pPr marL="0" indent="0">
              <a:buNone/>
            </a:pPr>
            <a:r>
              <a:rPr lang="en-US" sz="1400" dirty="0">
                <a:latin typeface="+mn-lt"/>
              </a:rPr>
              <a:t>Lukas Bleichner	lukas.bleichner.5753@student.uu.se </a:t>
            </a:r>
          </a:p>
          <a:p>
            <a:pPr marL="0" indent="0">
              <a:buNone/>
            </a:pPr>
            <a:endParaRPr lang="en-US" sz="1400" dirty="0">
              <a:latin typeface="+mn-lt"/>
            </a:endParaRPr>
          </a:p>
          <a:p>
            <a:pPr marL="0" indent="0">
              <a:buNone/>
            </a:pPr>
            <a:r>
              <a:rPr lang="en-US" sz="1400" dirty="0">
                <a:latin typeface="+mn-lt"/>
              </a:rPr>
              <a:t>Girish Pulinkala	</a:t>
            </a:r>
            <a:r>
              <a:rPr lang="en-US" sz="1400" dirty="0" err="1">
                <a:latin typeface="+mn-lt"/>
              </a:rPr>
              <a:t>girish.pulinkala@icm.uu.se</a:t>
            </a:r>
            <a:endParaRPr lang="en-US" sz="1400" dirty="0">
              <a:latin typeface="+mn-lt"/>
            </a:endParaRPr>
          </a:p>
          <a:p>
            <a:pPr marL="0" indent="0">
              <a:buNone/>
            </a:pP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895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Working</a:t>
            </a:r>
            <a:r>
              <a:rPr lang="sv-SE" dirty="0"/>
              <a:t> in R </a:t>
            </a:r>
            <a:r>
              <a:rPr lang="sv-SE" dirty="0" err="1"/>
              <a:t>environment</a:t>
            </a:r>
            <a:r>
              <a:rPr lang="sv-SE" dirty="0"/>
              <a:t> (R + </a:t>
            </a:r>
            <a:r>
              <a:rPr lang="sv-SE" dirty="0" err="1"/>
              <a:t>RStudio</a:t>
            </a:r>
            <a:r>
              <a:rPr lang="sv-SE" dirty="0"/>
              <a:t>)</a:t>
            </a:r>
          </a:p>
          <a:p>
            <a:r>
              <a:rPr lang="sv-SE" dirty="0"/>
              <a:t>5 </a:t>
            </a:r>
            <a:r>
              <a:rPr lang="sv-SE" dirty="0" err="1"/>
              <a:t>assignments</a:t>
            </a:r>
            <a:r>
              <a:rPr lang="sv-SE" dirty="0"/>
              <a:t> (</a:t>
            </a:r>
            <a:r>
              <a:rPr lang="sv-SE" dirty="0" err="1"/>
              <a:t>reports</a:t>
            </a:r>
            <a:r>
              <a:rPr lang="sv-SE" dirty="0"/>
              <a:t>)</a:t>
            </a:r>
          </a:p>
          <a:p>
            <a:endParaRPr lang="sv-SE" dirty="0"/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Introduction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126977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5A8A-722C-464A-8E44-04E57EFB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67666-DF1D-B449-AE52-5441CB56A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56992"/>
          </a:xfrm>
        </p:spPr>
        <p:txBody>
          <a:bodyPr/>
          <a:lstStyle/>
          <a:p>
            <a:r>
              <a:rPr lang="en-US" b="1" dirty="0"/>
              <a:t>Done individually</a:t>
            </a:r>
            <a:r>
              <a:rPr lang="en-US" dirty="0"/>
              <a:t>, but discussed within groups</a:t>
            </a:r>
          </a:p>
          <a:p>
            <a:r>
              <a:rPr lang="en-US" dirty="0"/>
              <a:t>Time: </a:t>
            </a:r>
            <a:r>
              <a:rPr lang="en-US" b="1" dirty="0"/>
              <a:t>1 weeks</a:t>
            </a:r>
          </a:p>
          <a:p>
            <a:r>
              <a:rPr lang="en-US" dirty="0"/>
              <a:t>Format .pages, .doc, .</a:t>
            </a:r>
            <a:r>
              <a:rPr lang="en-US" dirty="0" err="1"/>
              <a:t>docx</a:t>
            </a:r>
            <a:r>
              <a:rPr lang="en-US" dirty="0"/>
              <a:t> or .pdf</a:t>
            </a:r>
          </a:p>
          <a:p>
            <a:r>
              <a:rPr lang="en-US" dirty="0"/>
              <a:t>In case of questions or comments, please contact teacher responsible for a given assignment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27A07BD-F8C8-194F-B032-910EAC0E3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6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B74C-0874-C340-833A-3A02DE8F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AD1E-B6B2-684C-AF66-8DBADE1F9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 projects with 1 instruction</a:t>
            </a:r>
          </a:p>
          <a:p>
            <a:r>
              <a:rPr lang="en-US" dirty="0"/>
              <a:t>The same groups as for assignments</a:t>
            </a:r>
          </a:p>
          <a:p>
            <a:r>
              <a:rPr lang="en-US" dirty="0"/>
              <a:t>15-20 minutes (10-15 minutes of presentation + 5 minutes for discussion)</a:t>
            </a:r>
          </a:p>
          <a:p>
            <a:r>
              <a:rPr lang="en-US" dirty="0"/>
              <a:t>10-15 slides in total</a:t>
            </a:r>
          </a:p>
          <a:p>
            <a:r>
              <a:rPr lang="en-US" dirty="0"/>
              <a:t>Presentation shall include: aim of the work, short introduction, main results, conclusions and discussion</a:t>
            </a:r>
          </a:p>
          <a:p>
            <a:endParaRPr lang="en-US" dirty="0"/>
          </a:p>
          <a:p>
            <a:r>
              <a:rPr lang="en-US" b="1" dirty="0"/>
              <a:t>Important: </a:t>
            </a:r>
            <a:r>
              <a:rPr lang="en-US" dirty="0"/>
              <a:t>mark on the presentation who did what e.g. with initials or on the last slide as bullet points.</a:t>
            </a:r>
          </a:p>
        </p:txBody>
      </p:sp>
    </p:spTree>
    <p:extLst>
      <p:ext uri="{BB962C8B-B14F-4D97-AF65-F5344CB8AC3E}">
        <p14:creationId xmlns:p14="http://schemas.microsoft.com/office/powerpoint/2010/main" val="290182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F355-DCFE-4D4A-8F32-04FE3F58A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656" y="2852936"/>
            <a:ext cx="6336704" cy="11430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Lab </a:t>
            </a:r>
            <a:r>
              <a:rPr lang="en-US" dirty="0"/>
              <a:t>1 </a:t>
            </a:r>
            <a:r>
              <a:rPr lang="en-US"/>
              <a:t>-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3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5A8A-722C-464A-8E44-04E57EFB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67666-DF1D-B449-AE52-5441CB56A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of programming in R</a:t>
            </a:r>
          </a:p>
          <a:p>
            <a:r>
              <a:rPr lang="en-US" dirty="0"/>
              <a:t>Introduction to assignment</a:t>
            </a:r>
          </a:p>
          <a:p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27A07BD-F8C8-194F-B032-910EAC0E3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4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B4DD-18D4-3F45-BE14-FA67711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basics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25759C1-25BE-6742-8CB0-576EAF63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D33AAC-560E-C445-9BF0-393ECBC56E64}"/>
              </a:ext>
            </a:extLst>
          </p:cNvPr>
          <p:cNvSpPr/>
          <p:nvPr/>
        </p:nvSpPr>
        <p:spPr>
          <a:xfrm>
            <a:off x="827584" y="2276872"/>
            <a:ext cx="640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variable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&lt;- 6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&lt;- "car"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vector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v1 &lt;- c(1, 2, 3, 4, 5, 6)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v2 &lt;- c("car", "bike", "plane", "truck")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list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 &lt;- list("car", 1, "bike", 3, "bus")</a:t>
            </a:r>
          </a:p>
        </p:txBody>
      </p:sp>
    </p:spTree>
    <p:extLst>
      <p:ext uri="{BB962C8B-B14F-4D97-AF65-F5344CB8AC3E}">
        <p14:creationId xmlns:p14="http://schemas.microsoft.com/office/powerpoint/2010/main" val="116252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B4DD-18D4-3F45-BE14-FA67711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basics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25759C1-25BE-6742-8CB0-576EAF63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24FA89-5CE2-E140-AD8A-D916AC5573B0}"/>
              </a:ext>
            </a:extLst>
          </p:cNvPr>
          <p:cNvSpPr/>
          <p:nvPr/>
        </p:nvSpPr>
        <p:spPr>
          <a:xfrm>
            <a:off x="872716" y="1988840"/>
            <a:ext cx="73985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operations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 &lt;- c(1, 2, 5, 9, 3, 10, 0)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v[1] # select first element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mean(v) # mean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median(v) # median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max(v) # maximum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min(v) # minimum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length(v) # length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match(5, v) # find index of a given number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which(v == 5) # find index of a given number</a:t>
            </a:r>
          </a:p>
        </p:txBody>
      </p:sp>
    </p:spTree>
    <p:extLst>
      <p:ext uri="{BB962C8B-B14F-4D97-AF65-F5344CB8AC3E}">
        <p14:creationId xmlns:p14="http://schemas.microsoft.com/office/powerpoint/2010/main" val="240967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B4DD-18D4-3F45-BE14-FA67711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basics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25759C1-25BE-6742-8CB0-576EAF63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CF70C5-3171-E24B-AB1D-F1BC8C670439}"/>
              </a:ext>
            </a:extLst>
          </p:cNvPr>
          <p:cNvSpPr/>
          <p:nvPr/>
        </p:nvSpPr>
        <p:spPr>
          <a:xfrm>
            <a:off x="683568" y="1844824"/>
            <a:ext cx="833467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structure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(A=c(1,2,1,2,1),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B=c(2,3,3,2,6),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C=c(0,1,0,0,2),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D=c(8,8,9,0,1))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# column names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rownames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# row names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dim(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# size of data frame in form of "rows columns"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c(5, 7, 5, 7)) # add new row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E=c(10, 12, 11, 17, 19)) # add new column</a:t>
            </a:r>
          </a:p>
        </p:txBody>
      </p:sp>
    </p:spTree>
    <p:extLst>
      <p:ext uri="{BB962C8B-B14F-4D97-AF65-F5344CB8AC3E}">
        <p14:creationId xmlns:p14="http://schemas.microsoft.com/office/powerpoint/2010/main" val="64732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B4DD-18D4-3F45-BE14-FA67711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basics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25759C1-25BE-6742-8CB0-576EAF63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C45753-AB5B-DF4A-B556-CF17CF710C1F}"/>
              </a:ext>
            </a:extLst>
          </p:cNvPr>
          <p:cNvSpPr/>
          <p:nvPr/>
        </p:nvSpPr>
        <p:spPr>
          <a:xfrm>
            <a:off x="761256" y="2099567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for loop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1:10){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&lt;-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if(a){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print("This is true")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F0F0A-C793-274E-BDCA-3A8A1C8DE2C5}"/>
              </a:ext>
            </a:extLst>
          </p:cNvPr>
          <p:cNvSpPr/>
          <p:nvPr/>
        </p:nvSpPr>
        <p:spPr>
          <a:xfrm>
            <a:off x="4860032" y="1686377"/>
            <a:ext cx="3888432" cy="3441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if-else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if(a){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print("This is true")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}else{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print("This is false")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#function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newPower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function(x){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y &lt;- x*x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return(y)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6229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B4DD-18D4-3F45-BE14-FA67711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basics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25759C1-25BE-6742-8CB0-576EAF63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08399B-273B-FA4A-99C4-7BC989EC4F1F}"/>
              </a:ext>
            </a:extLst>
          </p:cNvPr>
          <p:cNvSpPr/>
          <p:nvPr/>
        </p:nvSpPr>
        <p:spPr>
          <a:xfrm>
            <a:off x="467544" y="1628800"/>
            <a:ext cx="85506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installing packages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("ggplot2") # if successful, run once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library(ggplot2) # run every time for new R session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installation from GitHub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devtools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install_github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komorowskilab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/R.ROSETTA")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library(R.ROSETTA)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installation from Bioconductor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BiocManager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BiocManager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::install("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2113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B4DD-18D4-3F45-BE14-FA67711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basics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25759C1-25BE-6742-8CB0-576EAF63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7306"/>
            <a:ext cx="9144000" cy="1430694"/>
          </a:xfrm>
          <a:prstGeom prst="rect">
            <a:avLst/>
          </a:prstGeom>
        </p:spPr>
      </p:pic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F150CCF2-A6A8-5640-8A60-4016C5396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7" y="1412776"/>
            <a:ext cx="8028053" cy="3650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r>
              <a:rPr lang="sv-SE" dirty="0"/>
              <a:t>And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  <a:p>
            <a:pPr marL="0" indent="0">
              <a:buNone/>
            </a:pP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paste0,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rep,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gsub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matrix,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table,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write.table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read.table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saveRDS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readRDS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lapply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as.character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aggregate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v-SE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549698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051F-0456-2E4D-B3BB-21DB83E4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FC2B-3542-C942-AAE3-B12A3E82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7106"/>
          </a:xfrm>
        </p:spPr>
        <p:txBody>
          <a:bodyPr>
            <a:normAutofit fontScale="92500" lnSpcReduction="10000"/>
          </a:bodyPr>
          <a:lstStyle/>
          <a:p>
            <a:r>
              <a:rPr lang="pl-PL" dirty="0">
                <a:hlinkClick r:id="rId2"/>
              </a:rPr>
              <a:t>https://www.r-project.org/about.html</a:t>
            </a:r>
            <a:endParaRPr lang="pl-PL" dirty="0"/>
          </a:p>
          <a:p>
            <a:r>
              <a:rPr lang="pl-PL" dirty="0">
                <a:hlinkClick r:id="rId3"/>
              </a:rPr>
              <a:t>https://www.codecademy.com/learn/learn-r</a:t>
            </a:r>
            <a:endParaRPr lang="pl-PL" dirty="0"/>
          </a:p>
          <a:p>
            <a:endParaRPr lang="pl-PL" dirty="0"/>
          </a:p>
          <a:p>
            <a:r>
              <a:rPr lang="pl-PL" dirty="0" err="1"/>
              <a:t>Tutorials</a:t>
            </a:r>
            <a:endParaRPr lang="pl-PL" dirty="0"/>
          </a:p>
          <a:p>
            <a:r>
              <a:rPr lang="pl-PL" dirty="0">
                <a:hlinkClick r:id="rId4"/>
              </a:rPr>
              <a:t>https://www.tutorialspoint.com/r/</a:t>
            </a:r>
            <a:endParaRPr lang="pl-PL" dirty="0"/>
          </a:p>
          <a:p>
            <a:r>
              <a:rPr lang="pl-PL" dirty="0">
                <a:hlinkClick r:id="rId5"/>
              </a:rPr>
              <a:t>http://r-tutorials.com/</a:t>
            </a:r>
            <a:endParaRPr lang="pl-PL" dirty="0"/>
          </a:p>
          <a:p>
            <a:endParaRPr lang="pl-PL" dirty="0"/>
          </a:p>
          <a:p>
            <a:r>
              <a:rPr lang="pl-PL" dirty="0" err="1"/>
              <a:t>Documentation</a:t>
            </a:r>
            <a:endParaRPr lang="pl-PL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name_of_the_function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/>
              <a:t>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name_of_the_function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l-PL" dirty="0"/>
          </a:p>
          <a:p>
            <a:endParaRPr lang="en-US" dirty="0"/>
          </a:p>
        </p:txBody>
      </p:sp>
      <p:pic>
        <p:nvPicPr>
          <p:cNvPr id="5" name="Bildobjekt 3">
            <a:extLst>
              <a:ext uri="{FF2B5EF4-FFF2-40B4-BE49-F238E27FC236}">
                <a16:creationId xmlns:a16="http://schemas.microsoft.com/office/drawing/2014/main" id="{AD511966-1F35-3D47-B0F0-760B30A3B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27306"/>
            <a:ext cx="9144000" cy="14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5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051F-0456-2E4D-B3BB-21DB83E4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FC2B-3542-C942-AAE3-B12A3E82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7106"/>
          </a:xfrm>
        </p:spPr>
        <p:txBody>
          <a:bodyPr>
            <a:normAutofit/>
          </a:bodyPr>
          <a:lstStyle/>
          <a:p>
            <a:endParaRPr lang="pl-PL" dirty="0"/>
          </a:p>
          <a:p>
            <a:r>
              <a:rPr lang="en-US" dirty="0"/>
              <a:t>R exercises on Iris data</a:t>
            </a:r>
          </a:p>
          <a:p>
            <a:r>
              <a:rPr lang="en-US" dirty="0"/>
              <a:t>Perform clustering methods on Iris dataset</a:t>
            </a:r>
          </a:p>
          <a:p>
            <a:r>
              <a:rPr lang="en-US" dirty="0"/>
              <a:t>Use the given R script</a:t>
            </a:r>
          </a:p>
          <a:p>
            <a:r>
              <a:rPr lang="en-US" dirty="0"/>
              <a:t>Answer the questions and attach figures</a:t>
            </a:r>
          </a:p>
        </p:txBody>
      </p:sp>
      <p:pic>
        <p:nvPicPr>
          <p:cNvPr id="5" name="Bildobjekt 3">
            <a:extLst>
              <a:ext uri="{FF2B5EF4-FFF2-40B4-BE49-F238E27FC236}">
                <a16:creationId xmlns:a16="http://schemas.microsoft.com/office/drawing/2014/main" id="{AD511966-1F35-3D47-B0F0-760B30A3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7306"/>
            <a:ext cx="9144000" cy="14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49546"/>
      </p:ext>
    </p:extLst>
  </p:cSld>
  <p:clrMapOvr>
    <a:masterClrMapping/>
  </p:clrMapOvr>
</p:sld>
</file>

<file path=ppt/theme/theme1.xml><?xml version="1.0" encoding="utf-8"?>
<a:theme xmlns:a="http://schemas.openxmlformats.org/drawingml/2006/main" name="UU Guldka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UU Guldkant</Template>
  <TotalTime>2318</TotalTime>
  <Words>780</Words>
  <Application>Microsoft Macintosh PowerPoint</Application>
  <PresentationFormat>On-screen Show (4:3)</PresentationFormat>
  <Paragraphs>119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UU Guldkant</vt:lpstr>
      <vt:lpstr>PowerPoint Presentation</vt:lpstr>
      <vt:lpstr>Introduction</vt:lpstr>
      <vt:lpstr>Reports</vt:lpstr>
      <vt:lpstr>Project presentation</vt:lpstr>
      <vt:lpstr>Lab 1 - Clustering</vt:lpstr>
      <vt:lpstr>Topics</vt:lpstr>
      <vt:lpstr>R basics</vt:lpstr>
      <vt:lpstr>R basics</vt:lpstr>
      <vt:lpstr>R basics</vt:lpstr>
      <vt:lpstr>R basics</vt:lpstr>
      <vt:lpstr>R basics</vt:lpstr>
      <vt:lpstr>R basics</vt:lpstr>
      <vt:lpstr>More about R programming</vt:lpstr>
      <vt:lpstr>Clustering</vt:lpstr>
    </vt:vector>
  </TitlesOfParts>
  <Manager/>
  <Company>UPPSALA UNIVERSITET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subject/>
  <dc:creator>KOMMUNIKATIONSAVDELNINGEN</dc:creator>
  <cp:keywords/>
  <dc:description/>
  <cp:lastModifiedBy>Girish Pulinkala</cp:lastModifiedBy>
  <cp:revision>188</cp:revision>
  <cp:lastPrinted>2020-09-04T08:06:43Z</cp:lastPrinted>
  <dcterms:created xsi:type="dcterms:W3CDTF">2013-08-22T05:59:05Z</dcterms:created>
  <dcterms:modified xsi:type="dcterms:W3CDTF">2026-01-15T11:53:04Z</dcterms:modified>
  <cp:category/>
</cp:coreProperties>
</file>