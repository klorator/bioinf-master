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68" r:id="rId2"/>
    <p:sldId id="433" r:id="rId3"/>
    <p:sldId id="439" r:id="rId4"/>
    <p:sldId id="440" r:id="rId5"/>
    <p:sldId id="438" r:id="rId6"/>
    <p:sldId id="444" r:id="rId7"/>
    <p:sldId id="441" r:id="rId8"/>
    <p:sldId id="442" r:id="rId9"/>
    <p:sldId id="443" r:id="rId10"/>
    <p:sldId id="445" r:id="rId11"/>
    <p:sldId id="447" r:id="rId12"/>
    <p:sldId id="448" r:id="rId13"/>
    <p:sldId id="449" r:id="rId14"/>
    <p:sldId id="446" r:id="rId15"/>
    <p:sldId id="436" r:id="rId16"/>
    <p:sldId id="454" r:id="rId17"/>
    <p:sldId id="456" r:id="rId18"/>
    <p:sldId id="453" r:id="rId19"/>
    <p:sldId id="450" r:id="rId20"/>
    <p:sldId id="451" r:id="rId21"/>
    <p:sldId id="452" r:id="rId22"/>
  </p:sldIdLst>
  <p:sldSz cx="9144000" cy="6858000" type="screen4x3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6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0" autoAdjust="0"/>
    <p:restoredTop sz="96247" autoAdjust="0"/>
  </p:normalViewPr>
  <p:slideViewPr>
    <p:cSldViewPr>
      <p:cViewPr varScale="1">
        <p:scale>
          <a:sx n="183" d="100"/>
          <a:sy n="183" d="100"/>
        </p:scale>
        <p:origin x="1744" y="192"/>
      </p:cViewPr>
      <p:guideLst>
        <p:guide orient="horz" pos="1096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97A32-862F-0646-9B82-9528E65EC396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A4AF5-49BF-554B-9274-5ECC6E9ABA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841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erling" pitchFamily="18" charset="0"/>
                <a:ea typeface="ＭＳ Ｐゴシック" charset="-128"/>
              </a:defRPr>
            </a:lvl9pPr>
          </a:lstStyle>
          <a:p>
            <a:fld id="{95AC20B2-FBEA-4932-AED0-FFAC46FD219E}" type="slidenum">
              <a:rPr lang="sv-SE" sz="1200" smtClean="0">
                <a:latin typeface="Arial" charset="0"/>
              </a:rPr>
              <a:pPr/>
              <a:t>1</a:t>
            </a:fld>
            <a:endParaRPr lang="sv-SE" sz="1200">
              <a:latin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A4AF5-49BF-554B-9274-5ECC6E9ABA83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360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 dirty="0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047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>
            <a:lvl1pPr algn="r"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1864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033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07704" y="485800"/>
            <a:ext cx="6779096" cy="1143000"/>
          </a:xfrm>
        </p:spPr>
        <p:txBody>
          <a:bodyPr>
            <a:normAutofit/>
          </a:bodyPr>
          <a:lstStyle>
            <a:lvl1pPr algn="r"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734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70911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358032"/>
            <a:ext cx="4040188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70911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358032"/>
            <a:ext cx="4041775" cy="3951288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265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051720" y="485800"/>
            <a:ext cx="6635080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390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705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63888" y="836712"/>
            <a:ext cx="5122912" cy="5472608"/>
          </a:xfrm>
        </p:spPr>
        <p:txBody>
          <a:bodyPr>
            <a:normAutofit/>
          </a:bodyPr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400">
                <a:latin typeface="Arial" pitchFamily="34" charset="0"/>
                <a:cs typeface="Arial" pitchFamily="34" charset="0"/>
              </a:defRPr>
            </a:lvl4pPr>
            <a:lvl5pPr>
              <a:defRPr sz="24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618257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94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107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1143000"/>
          </a:xfrm>
        </p:spPr>
        <p:txBody>
          <a:bodyPr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391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sv-SE"/>
              <a:t>Klicka här för att ändra format</a:t>
            </a:r>
            <a:endParaRPr lang="sv-SE" dirty="0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7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/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2123728" y="485800"/>
            <a:ext cx="65630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D0BB35-49B1-4A9E-BF2B-3D4542905BD1}" type="datetimeFigureOut">
              <a:rPr lang="sv-SE" smtClean="0"/>
              <a:t>2026-02-04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42D8877-4C7F-427A-9C07-12C41EAEE3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753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9B242571-2C1F-F043-9C8E-131E445005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189" y="3409335"/>
            <a:ext cx="1946543" cy="1850618"/>
          </a:xfrm>
          <a:prstGeom prst="rect">
            <a:avLst/>
          </a:prstGeom>
        </p:spPr>
      </p:pic>
      <p:sp>
        <p:nvSpPr>
          <p:cNvPr id="4" name="Rubrik 1">
            <a:extLst>
              <a:ext uri="{FF2B5EF4-FFF2-40B4-BE49-F238E27FC236}">
                <a16:creationId xmlns:a16="http://schemas.microsoft.com/office/drawing/2014/main" id="{4A4D0380-A808-4448-9DF7-C116FA7F411A}"/>
              </a:ext>
            </a:extLst>
          </p:cNvPr>
          <p:cNvSpPr txBox="1">
            <a:spLocks/>
          </p:cNvSpPr>
          <p:nvPr/>
        </p:nvSpPr>
        <p:spPr>
          <a:xfrm>
            <a:off x="683568" y="1700808"/>
            <a:ext cx="7772400" cy="1470025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GB" b="1" dirty="0"/>
              <a:t>Knowledge-Based Systems in Bioinformatics</a:t>
            </a:r>
            <a:r>
              <a:rPr lang="sv-SE" dirty="0"/>
              <a:t> </a:t>
            </a:r>
          </a:p>
        </p:txBody>
      </p:sp>
      <p:sp>
        <p:nvSpPr>
          <p:cNvPr id="5" name="Underrubrik 2">
            <a:extLst>
              <a:ext uri="{FF2B5EF4-FFF2-40B4-BE49-F238E27FC236}">
                <a16:creationId xmlns:a16="http://schemas.microsoft.com/office/drawing/2014/main" id="{3B727CDB-5CA9-A14F-986B-4152CE058CEA}"/>
              </a:ext>
            </a:extLst>
          </p:cNvPr>
          <p:cNvSpPr txBox="1">
            <a:spLocks/>
          </p:cNvSpPr>
          <p:nvPr/>
        </p:nvSpPr>
        <p:spPr>
          <a:xfrm>
            <a:off x="6444208" y="4725144"/>
            <a:ext cx="2520280" cy="202790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Teachers: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Yalova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 Redmayne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Lukas Bleichner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Girish Pulinkala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EFE8A-F23E-94D7-DB82-7A6F03847D75}"/>
              </a:ext>
            </a:extLst>
          </p:cNvPr>
          <p:cNvSpPr txBox="1"/>
          <p:nvPr/>
        </p:nvSpPr>
        <p:spPr>
          <a:xfrm>
            <a:off x="2283768" y="2920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dirty="0"/>
              <a:t>Assignment </a:t>
            </a:r>
            <a:r>
              <a:rPr lang="sv-SE" dirty="0"/>
              <a:t>3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789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Discretization</a:t>
            </a:r>
            <a:endParaRPr lang="sv-SE" dirty="0"/>
          </a:p>
          <a:p>
            <a:r>
              <a:rPr lang="sv-SE" dirty="0" err="1"/>
              <a:t>Classification</a:t>
            </a:r>
            <a:endParaRPr lang="sv-SE" dirty="0"/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Assignment 4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126977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Equal</a:t>
            </a:r>
            <a:r>
              <a:rPr lang="sv-SE" dirty="0"/>
              <a:t> </a:t>
            </a:r>
            <a:r>
              <a:rPr lang="sv-SE" dirty="0" err="1"/>
              <a:t>Frequency</a:t>
            </a:r>
            <a:r>
              <a:rPr lang="sv-SE" dirty="0"/>
              <a:t> (2 </a:t>
            </a:r>
            <a:r>
              <a:rPr lang="sv-SE" dirty="0" err="1"/>
              <a:t>levels</a:t>
            </a:r>
            <a:r>
              <a:rPr lang="sv-SE" dirty="0"/>
              <a:t>)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10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Equal</a:t>
            </a:r>
            <a:r>
              <a:rPr lang="sv-SE" dirty="0"/>
              <a:t> </a:t>
            </a:r>
            <a:r>
              <a:rPr lang="sv-SE" dirty="0" err="1"/>
              <a:t>Frequency</a:t>
            </a:r>
            <a:r>
              <a:rPr lang="sv-SE" dirty="0"/>
              <a:t> (2 </a:t>
            </a:r>
            <a:r>
              <a:rPr lang="sv-SE" dirty="0" err="1"/>
              <a:t>levels</a:t>
            </a:r>
            <a:r>
              <a:rPr lang="sv-SE" dirty="0"/>
              <a:t>)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DC68E-997F-5044-BA24-761EB8C60CED}"/>
              </a:ext>
            </a:extLst>
          </p:cNvPr>
          <p:cNvSpPr txBox="1"/>
          <p:nvPr/>
        </p:nvSpPr>
        <p:spPr>
          <a:xfrm>
            <a:off x="4638872" y="3246312"/>
            <a:ext cx="121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values</a:t>
            </a:r>
          </a:p>
        </p:txBody>
      </p:sp>
    </p:spTree>
    <p:extLst>
      <p:ext uri="{BB962C8B-B14F-4D97-AF65-F5344CB8AC3E}">
        <p14:creationId xmlns:p14="http://schemas.microsoft.com/office/powerpoint/2010/main" val="60912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Equal</a:t>
            </a:r>
            <a:r>
              <a:rPr lang="sv-SE" dirty="0"/>
              <a:t> </a:t>
            </a:r>
            <a:r>
              <a:rPr lang="sv-SE" dirty="0" err="1"/>
              <a:t>Frequency</a:t>
            </a:r>
            <a:r>
              <a:rPr lang="sv-SE" dirty="0"/>
              <a:t> (2 </a:t>
            </a:r>
            <a:r>
              <a:rPr lang="sv-SE" dirty="0" err="1"/>
              <a:t>levels</a:t>
            </a:r>
            <a:r>
              <a:rPr lang="sv-SE" dirty="0"/>
              <a:t>)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81222"/>
              </p:ext>
            </p:extLst>
          </p:nvPr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E615C-8E3A-DA46-B2F4-FE3459024F05}"/>
              </a:ext>
            </a:extLst>
          </p:cNvPr>
          <p:cNvCxnSpPr>
            <a:cxnSpLocks/>
          </p:cNvCxnSpPr>
          <p:nvPr/>
        </p:nvCxnSpPr>
        <p:spPr>
          <a:xfrm>
            <a:off x="4932040" y="3068960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292935-90A6-E642-A8E6-ECCBD0359DF3}"/>
                  </a:ext>
                </a:extLst>
              </p:cNvPr>
              <p:cNvSpPr txBox="1"/>
              <p:nvPr/>
            </p:nvSpPr>
            <p:spPr>
              <a:xfrm>
                <a:off x="5859992" y="2014721"/>
                <a:ext cx="1931426" cy="1305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sv-SE" b="0" dirty="0"/>
              </a:p>
              <a:p>
                <a:endParaRPr lang="sv-SE" b="0" dirty="0"/>
              </a:p>
              <a:p>
                <a:r>
                  <a:rPr lang="sv-SE" dirty="0"/>
                  <a:t>n - </a:t>
                </a:r>
                <a:r>
                  <a:rPr lang="sv-SE" dirty="0" err="1"/>
                  <a:t>number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points</a:t>
                </a:r>
                <a:endParaRPr lang="sv-SE" dirty="0"/>
              </a:p>
              <a:p>
                <a:r>
                  <a:rPr lang="sv-SE" dirty="0"/>
                  <a:t>m - </a:t>
                </a:r>
                <a:r>
                  <a:rPr lang="sv-SE" dirty="0" err="1"/>
                  <a:t>number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levels</a:t>
                </a:r>
                <a:endParaRPr lang="sv-SE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292935-90A6-E642-A8E6-ECCBD0359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992" y="2014721"/>
                <a:ext cx="1931426" cy="1305357"/>
              </a:xfrm>
              <a:prstGeom prst="rect">
                <a:avLst/>
              </a:prstGeom>
              <a:blipFill>
                <a:blip r:embed="rId3"/>
                <a:stretch>
                  <a:fillRect l="-6536" r="-6536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00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Equal</a:t>
            </a:r>
            <a:r>
              <a:rPr lang="sv-SE" dirty="0"/>
              <a:t> </a:t>
            </a:r>
            <a:r>
              <a:rPr lang="sv-SE" dirty="0" err="1"/>
              <a:t>Frequency</a:t>
            </a:r>
            <a:r>
              <a:rPr lang="sv-SE" dirty="0"/>
              <a:t> (2 </a:t>
            </a:r>
            <a:r>
              <a:rPr lang="sv-SE" dirty="0" err="1"/>
              <a:t>levels</a:t>
            </a:r>
            <a:r>
              <a:rPr lang="sv-SE" dirty="0"/>
              <a:t>)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E615C-8E3A-DA46-B2F4-FE3459024F05}"/>
              </a:ext>
            </a:extLst>
          </p:cNvPr>
          <p:cNvCxnSpPr>
            <a:cxnSpLocks/>
          </p:cNvCxnSpPr>
          <p:nvPr/>
        </p:nvCxnSpPr>
        <p:spPr>
          <a:xfrm>
            <a:off x="4932040" y="3068960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292935-90A6-E642-A8E6-ECCBD0359DF3}"/>
                  </a:ext>
                </a:extLst>
              </p:cNvPr>
              <p:cNvSpPr txBox="1"/>
              <p:nvPr/>
            </p:nvSpPr>
            <p:spPr>
              <a:xfrm>
                <a:off x="5859992" y="2014721"/>
                <a:ext cx="1931426" cy="1305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sv-SE" b="0" dirty="0"/>
              </a:p>
              <a:p>
                <a:endParaRPr lang="sv-SE" b="0" dirty="0"/>
              </a:p>
              <a:p>
                <a:r>
                  <a:rPr lang="sv-SE" dirty="0"/>
                  <a:t>n - </a:t>
                </a:r>
                <a:r>
                  <a:rPr lang="sv-SE" dirty="0" err="1"/>
                  <a:t>number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points</a:t>
                </a:r>
                <a:endParaRPr lang="sv-SE" dirty="0"/>
              </a:p>
              <a:p>
                <a:r>
                  <a:rPr lang="sv-SE" dirty="0"/>
                  <a:t>m - </a:t>
                </a:r>
                <a:r>
                  <a:rPr lang="sv-SE" dirty="0" err="1"/>
                  <a:t>number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levels</a:t>
                </a:r>
                <a:endParaRPr lang="sv-SE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292935-90A6-E642-A8E6-ECCBD0359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992" y="2014721"/>
                <a:ext cx="1931426" cy="1305357"/>
              </a:xfrm>
              <a:prstGeom prst="rect">
                <a:avLst/>
              </a:prstGeom>
              <a:blipFill>
                <a:blip r:embed="rId3"/>
                <a:stretch>
                  <a:fillRect l="-6536" r="-6536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F08B55-FC39-F84C-AD65-3288CF886295}"/>
                  </a:ext>
                </a:extLst>
              </p:cNvPr>
              <p:cNvSpPr txBox="1"/>
              <p:nvPr/>
            </p:nvSpPr>
            <p:spPr>
              <a:xfrm>
                <a:off x="3615986" y="3697578"/>
                <a:ext cx="572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[1, 5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F08B55-FC39-F84C-AD65-3288CF886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986" y="3697578"/>
                <a:ext cx="572273" cy="276999"/>
              </a:xfrm>
              <a:prstGeom prst="rect">
                <a:avLst/>
              </a:prstGeom>
              <a:blipFill>
                <a:blip r:embed="rId4"/>
                <a:stretch>
                  <a:fillRect l="-13043" t="-4545" r="-13043" b="-409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349605-4988-564E-9550-B7F02EB5C78F}"/>
                  </a:ext>
                </a:extLst>
              </p:cNvPr>
              <p:cNvSpPr txBox="1"/>
              <p:nvPr/>
            </p:nvSpPr>
            <p:spPr>
              <a:xfrm>
                <a:off x="5751792" y="3697578"/>
                <a:ext cx="572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[5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, 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349605-4988-564E-9550-B7F02EB5C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792" y="3697578"/>
                <a:ext cx="572273" cy="276999"/>
              </a:xfrm>
              <a:prstGeom prst="rect">
                <a:avLst/>
              </a:prstGeom>
              <a:blipFill>
                <a:blip r:embed="rId5"/>
                <a:stretch>
                  <a:fillRect l="-15556" t="-4545" r="-15556" b="-409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C8F1DC9-8E82-D845-88AE-1E6669F5760A}"/>
              </a:ext>
            </a:extLst>
          </p:cNvPr>
          <p:cNvSpPr txBox="1"/>
          <p:nvPr/>
        </p:nvSpPr>
        <p:spPr>
          <a:xfrm>
            <a:off x="3876238" y="4931005"/>
            <a:ext cx="211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cut and 2 intervals</a:t>
            </a:r>
          </a:p>
        </p:txBody>
      </p:sp>
    </p:spTree>
    <p:extLst>
      <p:ext uri="{BB962C8B-B14F-4D97-AF65-F5344CB8AC3E}">
        <p14:creationId xmlns:p14="http://schemas.microsoft.com/office/powerpoint/2010/main" val="10043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/>
              <a:t>Naive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76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/>
              <a:t>Naive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3988B-E5F1-9440-AD33-27AAD120823A}"/>
              </a:ext>
            </a:extLst>
          </p:cNvPr>
          <p:cNvSpPr txBox="1"/>
          <p:nvPr/>
        </p:nvSpPr>
        <p:spPr>
          <a:xfrm>
            <a:off x="4638872" y="3246312"/>
            <a:ext cx="121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values</a:t>
            </a:r>
          </a:p>
        </p:txBody>
      </p:sp>
    </p:spTree>
    <p:extLst>
      <p:ext uri="{BB962C8B-B14F-4D97-AF65-F5344CB8AC3E}">
        <p14:creationId xmlns:p14="http://schemas.microsoft.com/office/powerpoint/2010/main" val="3789321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/>
              <a:t>Naive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E615C-8E3A-DA46-B2F4-FE3459024F05}"/>
              </a:ext>
            </a:extLst>
          </p:cNvPr>
          <p:cNvCxnSpPr>
            <a:cxnSpLocks/>
          </p:cNvCxnSpPr>
          <p:nvPr/>
        </p:nvCxnSpPr>
        <p:spPr>
          <a:xfrm>
            <a:off x="4932040" y="3068960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823D44-DB77-BA40-8D0B-5175033BD439}"/>
              </a:ext>
            </a:extLst>
          </p:cNvPr>
          <p:cNvCxnSpPr>
            <a:cxnSpLocks/>
          </p:cNvCxnSpPr>
          <p:nvPr/>
        </p:nvCxnSpPr>
        <p:spPr>
          <a:xfrm>
            <a:off x="4427984" y="3058849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46E8F-7A15-6B41-9A8B-FBBE3F94E5AC}"/>
              </a:ext>
            </a:extLst>
          </p:cNvPr>
          <p:cNvCxnSpPr>
            <a:cxnSpLocks/>
          </p:cNvCxnSpPr>
          <p:nvPr/>
        </p:nvCxnSpPr>
        <p:spPr>
          <a:xfrm>
            <a:off x="5940152" y="3058849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0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/>
              <a:t>Naive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E615C-8E3A-DA46-B2F4-FE3459024F05}"/>
              </a:ext>
            </a:extLst>
          </p:cNvPr>
          <p:cNvCxnSpPr>
            <a:cxnSpLocks/>
          </p:cNvCxnSpPr>
          <p:nvPr/>
        </p:nvCxnSpPr>
        <p:spPr>
          <a:xfrm>
            <a:off x="4932040" y="3068960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823D44-DB77-BA40-8D0B-5175033BD439}"/>
              </a:ext>
            </a:extLst>
          </p:cNvPr>
          <p:cNvCxnSpPr>
            <a:cxnSpLocks/>
          </p:cNvCxnSpPr>
          <p:nvPr/>
        </p:nvCxnSpPr>
        <p:spPr>
          <a:xfrm>
            <a:off x="4427984" y="3058849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46E8F-7A15-6B41-9A8B-FBBE3F94E5AC}"/>
              </a:ext>
            </a:extLst>
          </p:cNvPr>
          <p:cNvCxnSpPr>
            <a:cxnSpLocks/>
          </p:cNvCxnSpPr>
          <p:nvPr/>
        </p:nvCxnSpPr>
        <p:spPr>
          <a:xfrm>
            <a:off x="5940152" y="3058849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FCED82-BDDB-8445-9478-32FE888B3FC9}"/>
                  </a:ext>
                </a:extLst>
              </p:cNvPr>
              <p:cNvSpPr txBox="1"/>
              <p:nvPr/>
            </p:nvSpPr>
            <p:spPr>
              <a:xfrm>
                <a:off x="3274953" y="2607295"/>
                <a:ext cx="572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[1, 4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FCED82-BDDB-8445-9478-32FE888B3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953" y="2607295"/>
                <a:ext cx="572273" cy="276999"/>
              </a:xfrm>
              <a:prstGeom prst="rect">
                <a:avLst/>
              </a:prstGeom>
              <a:blipFill>
                <a:blip r:embed="rId3"/>
                <a:stretch>
                  <a:fillRect l="-13043" t="-4348" r="-15217" b="-347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57FD24-62EA-6545-B212-123D81150880}"/>
                  </a:ext>
                </a:extLst>
              </p:cNvPr>
              <p:cNvSpPr txBox="1"/>
              <p:nvPr/>
            </p:nvSpPr>
            <p:spPr>
              <a:xfrm>
                <a:off x="4209868" y="2243213"/>
                <a:ext cx="572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[4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, 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57FD24-62EA-6545-B212-123D81150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68" y="2243213"/>
                <a:ext cx="572273" cy="276999"/>
              </a:xfrm>
              <a:prstGeom prst="rect">
                <a:avLst/>
              </a:prstGeom>
              <a:blipFill>
                <a:blip r:embed="rId4"/>
                <a:stretch>
                  <a:fillRect l="-15217" r="-15217" b="-347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5AD9BF-776D-4347-BFE0-EE22F17A8C15}"/>
                  </a:ext>
                </a:extLst>
              </p:cNvPr>
              <p:cNvSpPr txBox="1"/>
              <p:nvPr/>
            </p:nvSpPr>
            <p:spPr>
              <a:xfrm>
                <a:off x="4977725" y="2588223"/>
                <a:ext cx="572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[5, 8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5AD9BF-776D-4347-BFE0-EE22F17A8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725" y="2588223"/>
                <a:ext cx="572273" cy="276999"/>
              </a:xfrm>
              <a:prstGeom prst="rect">
                <a:avLst/>
              </a:prstGeom>
              <a:blipFill>
                <a:blip r:embed="rId5"/>
                <a:stretch>
                  <a:fillRect l="-15556" t="-4545" r="-15556" b="-3636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3C0C7F-71A8-4846-99C3-557D4C4F5BCA}"/>
                  </a:ext>
                </a:extLst>
              </p:cNvPr>
              <p:cNvSpPr txBox="1"/>
              <p:nvPr/>
            </p:nvSpPr>
            <p:spPr>
              <a:xfrm>
                <a:off x="6611237" y="2607294"/>
                <a:ext cx="7005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[8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3C0C7F-71A8-4846-99C3-557D4C4F5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237" y="2607294"/>
                <a:ext cx="700513" cy="276999"/>
              </a:xfrm>
              <a:prstGeom prst="rect">
                <a:avLst/>
              </a:prstGeom>
              <a:blipFill>
                <a:blip r:embed="rId6"/>
                <a:stretch>
                  <a:fillRect l="-10714" t="-4348" r="-12500" b="-347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63AB008-362E-074F-BD48-308D1D4726EC}"/>
              </a:ext>
            </a:extLst>
          </p:cNvPr>
          <p:cNvSpPr txBox="1"/>
          <p:nvPr/>
        </p:nvSpPr>
        <p:spPr>
          <a:xfrm>
            <a:off x="3876238" y="4931005"/>
            <a:ext cx="220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cuts and 4 intervals</a:t>
            </a:r>
          </a:p>
        </p:txBody>
      </p:sp>
    </p:spTree>
    <p:extLst>
      <p:ext uri="{BB962C8B-B14F-4D97-AF65-F5344CB8AC3E}">
        <p14:creationId xmlns:p14="http://schemas.microsoft.com/office/powerpoint/2010/main" val="3084617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Fixed</a:t>
            </a:r>
            <a:r>
              <a:rPr lang="sv-SE" dirty="0"/>
              <a:t> </a:t>
            </a:r>
            <a:r>
              <a:rPr lang="sv-SE" dirty="0" err="1"/>
              <a:t>cuts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 4 and 6)  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58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Fixed</a:t>
            </a:r>
            <a:r>
              <a:rPr lang="sv-SE" dirty="0"/>
              <a:t> </a:t>
            </a:r>
            <a:r>
              <a:rPr lang="sv-SE" dirty="0" err="1"/>
              <a:t>cuts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 4 and 6)  </a:t>
            </a:r>
          </a:p>
          <a:p>
            <a:endParaRPr lang="sv-SE" dirty="0"/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3988B-E5F1-9440-AD33-27AAD120823A}"/>
              </a:ext>
            </a:extLst>
          </p:cNvPr>
          <p:cNvSpPr txBox="1"/>
          <p:nvPr/>
        </p:nvSpPr>
        <p:spPr>
          <a:xfrm>
            <a:off x="4638872" y="3246312"/>
            <a:ext cx="121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values</a:t>
            </a:r>
          </a:p>
        </p:txBody>
      </p:sp>
    </p:spTree>
    <p:extLst>
      <p:ext uri="{BB962C8B-B14F-4D97-AF65-F5344CB8AC3E}">
        <p14:creationId xmlns:p14="http://schemas.microsoft.com/office/powerpoint/2010/main" val="406672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Fixed</a:t>
            </a:r>
            <a:r>
              <a:rPr lang="sv-SE" dirty="0"/>
              <a:t> </a:t>
            </a:r>
            <a:r>
              <a:rPr lang="sv-SE" dirty="0" err="1"/>
              <a:t>cuts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 4 and 6)  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46E8F-7A15-6B41-9A8B-FBBE3F94E5AC}"/>
              </a:ext>
            </a:extLst>
          </p:cNvPr>
          <p:cNvCxnSpPr>
            <a:cxnSpLocks/>
          </p:cNvCxnSpPr>
          <p:nvPr/>
        </p:nvCxnSpPr>
        <p:spPr>
          <a:xfrm>
            <a:off x="4672335" y="3069112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54BF0B-21AB-614C-B1DF-62972FF4863D}"/>
              </a:ext>
            </a:extLst>
          </p:cNvPr>
          <p:cNvCxnSpPr>
            <a:cxnSpLocks/>
          </p:cNvCxnSpPr>
          <p:nvPr/>
        </p:nvCxnSpPr>
        <p:spPr>
          <a:xfrm>
            <a:off x="5796136" y="3069112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62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Fixed</a:t>
            </a:r>
            <a:r>
              <a:rPr lang="sv-SE" dirty="0"/>
              <a:t> </a:t>
            </a:r>
            <a:r>
              <a:rPr lang="sv-SE" dirty="0" err="1"/>
              <a:t>cuts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 4 and 6)  </a:t>
            </a:r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Discretization</a:t>
            </a:r>
            <a:endParaRPr lang="sv-SE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C36B7-AA1A-3445-A191-D41D4A4011A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20888"/>
          <a:ext cx="1440160" cy="2664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13">
                  <a:extLst>
                    <a:ext uri="{9D8B030D-6E8A-4147-A177-3AD203B41FA5}">
                      <a16:colId xmlns:a16="http://schemas.microsoft.com/office/drawing/2014/main" val="1694770324"/>
                    </a:ext>
                  </a:extLst>
                </a:gridCol>
                <a:gridCol w="502591">
                  <a:extLst>
                    <a:ext uri="{9D8B030D-6E8A-4147-A177-3AD203B41FA5}">
                      <a16:colId xmlns:a16="http://schemas.microsoft.com/office/drawing/2014/main" val="338959562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8938974"/>
                    </a:ext>
                  </a:extLst>
                </a:gridCol>
              </a:tblGrid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3395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8283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73437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5282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0137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49883"/>
                  </a:ext>
                </a:extLst>
              </a:tr>
              <a:tr h="38061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348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E202D-3210-DD43-9D45-2D4F39FF0D17}"/>
              </a:ext>
            </a:extLst>
          </p:cNvPr>
          <p:cNvCxnSpPr/>
          <p:nvPr/>
        </p:nvCxnSpPr>
        <p:spPr>
          <a:xfrm>
            <a:off x="3059832" y="4437112"/>
            <a:ext cx="5040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E3B2FCE-C145-754D-9565-640A57951A8C}"/>
              </a:ext>
            </a:extLst>
          </p:cNvPr>
          <p:cNvSpPr/>
          <p:nvPr/>
        </p:nvSpPr>
        <p:spPr>
          <a:xfrm>
            <a:off x="2843808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E54EC5-9E5A-034C-8876-9AA2BC7C45FD}"/>
              </a:ext>
            </a:extLst>
          </p:cNvPr>
          <p:cNvSpPr/>
          <p:nvPr/>
        </p:nvSpPr>
        <p:spPr>
          <a:xfrm>
            <a:off x="3918810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F9044-FFFF-1344-BCE4-AA0EB699D838}"/>
              </a:ext>
            </a:extLst>
          </p:cNvPr>
          <p:cNvSpPr/>
          <p:nvPr/>
        </p:nvSpPr>
        <p:spPr>
          <a:xfrm>
            <a:off x="4456311" y="422186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63DF98-65B5-D64E-A948-B98591E5B6DA}"/>
              </a:ext>
            </a:extLst>
          </p:cNvPr>
          <p:cNvSpPr/>
          <p:nvPr/>
        </p:nvSpPr>
        <p:spPr>
          <a:xfrm>
            <a:off x="4993812" y="4221088"/>
            <a:ext cx="432048" cy="43204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C918F-89B2-E243-BD38-0B34611FD498}"/>
              </a:ext>
            </a:extLst>
          </p:cNvPr>
          <p:cNvSpPr/>
          <p:nvPr/>
        </p:nvSpPr>
        <p:spPr>
          <a:xfrm>
            <a:off x="6606315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B11A97-2762-3A49-98DD-978A3C857E97}"/>
              </a:ext>
            </a:extLst>
          </p:cNvPr>
          <p:cNvSpPr/>
          <p:nvPr/>
        </p:nvSpPr>
        <p:spPr>
          <a:xfrm>
            <a:off x="7143816" y="4221088"/>
            <a:ext cx="432048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46E8F-7A15-6B41-9A8B-FBBE3F94E5AC}"/>
              </a:ext>
            </a:extLst>
          </p:cNvPr>
          <p:cNvCxnSpPr>
            <a:cxnSpLocks/>
          </p:cNvCxnSpPr>
          <p:nvPr/>
        </p:nvCxnSpPr>
        <p:spPr>
          <a:xfrm>
            <a:off x="4672335" y="3069112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63AB008-362E-074F-BD48-308D1D4726EC}"/>
              </a:ext>
            </a:extLst>
          </p:cNvPr>
          <p:cNvSpPr txBox="1"/>
          <p:nvPr/>
        </p:nvSpPr>
        <p:spPr>
          <a:xfrm>
            <a:off x="3876238" y="4931005"/>
            <a:ext cx="220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cuts and 3 intervals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54BF0B-21AB-614C-B1DF-62972FF4863D}"/>
              </a:ext>
            </a:extLst>
          </p:cNvPr>
          <p:cNvCxnSpPr>
            <a:cxnSpLocks/>
          </p:cNvCxnSpPr>
          <p:nvPr/>
        </p:nvCxnSpPr>
        <p:spPr>
          <a:xfrm>
            <a:off x="5796136" y="3069112"/>
            <a:ext cx="0" cy="136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774B7B-59E8-8A43-BBD5-040274778D48}"/>
                  </a:ext>
                </a:extLst>
              </p:cNvPr>
              <p:cNvSpPr txBox="1"/>
              <p:nvPr/>
            </p:nvSpPr>
            <p:spPr>
              <a:xfrm>
                <a:off x="3023913" y="3069112"/>
                <a:ext cx="5722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[1, 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774B7B-59E8-8A43-BBD5-040274778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913" y="3069112"/>
                <a:ext cx="572272" cy="276999"/>
              </a:xfrm>
              <a:prstGeom prst="rect">
                <a:avLst/>
              </a:prstGeom>
              <a:blipFill>
                <a:blip r:embed="rId3"/>
                <a:stretch>
                  <a:fillRect l="-13043" t="-4545" r="-13043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80C51-786A-E74E-8039-736124D93C45}"/>
                  </a:ext>
                </a:extLst>
              </p:cNvPr>
              <p:cNvSpPr txBox="1"/>
              <p:nvPr/>
            </p:nvSpPr>
            <p:spPr>
              <a:xfrm>
                <a:off x="4721602" y="3063493"/>
                <a:ext cx="5722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[4, 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80C51-786A-E74E-8039-736124D93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602" y="3063493"/>
                <a:ext cx="572272" cy="276999"/>
              </a:xfrm>
              <a:prstGeom prst="rect">
                <a:avLst/>
              </a:prstGeom>
              <a:blipFill>
                <a:blip r:embed="rId4"/>
                <a:stretch>
                  <a:fillRect l="-15556" r="-1333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2635EA-50F0-064A-9C31-E0EAEB6030A5}"/>
                  </a:ext>
                </a:extLst>
              </p:cNvPr>
              <p:cNvSpPr txBox="1"/>
              <p:nvPr/>
            </p:nvSpPr>
            <p:spPr>
              <a:xfrm>
                <a:off x="6496142" y="3063492"/>
                <a:ext cx="5722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[6, 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2635EA-50F0-064A-9C31-E0EAEB603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142" y="3063492"/>
                <a:ext cx="572272" cy="276999"/>
              </a:xfrm>
              <a:prstGeom prst="rect">
                <a:avLst/>
              </a:prstGeom>
              <a:blipFill>
                <a:blip r:embed="rId5"/>
                <a:stretch>
                  <a:fillRect l="-15217" r="-1304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577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224"/>
            <a:ext cx="9144000" cy="1430694"/>
          </a:xfrm>
          <a:prstGeom prst="rect">
            <a:avLst/>
          </a:prstGeom>
        </p:spPr>
      </p:pic>
      <p:sp>
        <p:nvSpPr>
          <p:cNvPr id="5" name="Platshållare för innehåll 2"/>
          <p:cNvSpPr>
            <a:spLocks noGrp="1"/>
          </p:cNvSpPr>
          <p:nvPr>
            <p:ph idx="1"/>
          </p:nvPr>
        </p:nvSpPr>
        <p:spPr>
          <a:xfrm>
            <a:off x="457200" y="1794520"/>
            <a:ext cx="8229600" cy="3484984"/>
          </a:xfrm>
        </p:spPr>
        <p:txBody>
          <a:bodyPr/>
          <a:lstStyle/>
          <a:p>
            <a:r>
              <a:rPr lang="sv-SE" dirty="0" err="1"/>
              <a:t>Rough</a:t>
            </a:r>
            <a:r>
              <a:rPr lang="sv-SE" dirty="0"/>
              <a:t> set </a:t>
            </a:r>
            <a:r>
              <a:rPr lang="sv-SE" dirty="0" err="1"/>
              <a:t>modelling</a:t>
            </a:r>
            <a:r>
              <a:rPr lang="sv-SE" dirty="0"/>
              <a:t> on autism-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case-control</a:t>
            </a:r>
            <a:r>
              <a:rPr lang="sv-SE" dirty="0"/>
              <a:t> studies</a:t>
            </a:r>
          </a:p>
          <a:p>
            <a:r>
              <a:rPr lang="sv-SE" dirty="0"/>
              <a:t>Feature </a:t>
            </a:r>
            <a:r>
              <a:rPr lang="sv-SE" dirty="0" err="1"/>
              <a:t>selection</a:t>
            </a:r>
            <a:r>
              <a:rPr lang="sv-SE" dirty="0"/>
              <a:t> has </a:t>
            </a:r>
            <a:r>
              <a:rPr lang="sv-SE" dirty="0" err="1"/>
              <a:t>been</a:t>
            </a:r>
            <a:r>
              <a:rPr lang="sv-SE" dirty="0"/>
              <a:t> </a:t>
            </a:r>
            <a:r>
              <a:rPr lang="sv-SE" dirty="0" err="1"/>
              <a:t>performed</a:t>
            </a:r>
            <a:r>
              <a:rPr lang="sv-SE" dirty="0"/>
              <a:t> on the data</a:t>
            </a:r>
          </a:p>
          <a:p>
            <a:r>
              <a:rPr lang="sv-SE" dirty="0"/>
              <a:t>R.ROSETTA (x32-bit </a:t>
            </a:r>
            <a:r>
              <a:rPr lang="sv-SE" dirty="0" err="1"/>
              <a:t>wine</a:t>
            </a:r>
            <a:r>
              <a:rPr lang="sv-SE" dirty="0"/>
              <a:t> is </a:t>
            </a:r>
            <a:r>
              <a:rPr lang="sv-SE" dirty="0" err="1"/>
              <a:t>required</a:t>
            </a:r>
            <a:r>
              <a:rPr lang="sv-SE" dirty="0"/>
              <a:t> for UNIX)</a:t>
            </a:r>
          </a:p>
          <a:p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included</a:t>
            </a:r>
            <a:endParaRPr lang="sv-SE" dirty="0"/>
          </a:p>
        </p:txBody>
      </p:sp>
      <p:sp>
        <p:nvSpPr>
          <p:cNvPr id="6" name="Rubrik 1"/>
          <p:cNvSpPr>
            <a:spLocks noGrp="1"/>
          </p:cNvSpPr>
          <p:nvPr>
            <p:ph type="title"/>
          </p:nvPr>
        </p:nvSpPr>
        <p:spPr>
          <a:xfrm>
            <a:off x="1979712" y="485800"/>
            <a:ext cx="6707088" cy="1143000"/>
          </a:xfrm>
        </p:spPr>
        <p:txBody>
          <a:bodyPr>
            <a:normAutofit/>
          </a:bodyPr>
          <a:lstStyle/>
          <a:p>
            <a:r>
              <a:rPr lang="en-US" sz="2800" dirty="0"/>
              <a:t>Classification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247093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485A-F9CC-6844-8CE1-78A93519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ROC threshold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E1F07-0A68-6B4D-A0D5-6284CF5A5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844824"/>
            <a:ext cx="5587082" cy="4704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250A44-04C2-9042-A75D-C9FC166810FC}"/>
              </a:ext>
            </a:extLst>
          </p:cNvPr>
          <p:cNvSpPr txBox="1"/>
          <p:nvPr/>
        </p:nvSpPr>
        <p:spPr>
          <a:xfrm>
            <a:off x="1187624" y="1691571"/>
            <a:ext cx="7299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Depends on the classification problem, but usually for high TPR and low FPR</a:t>
            </a:r>
          </a:p>
        </p:txBody>
      </p:sp>
    </p:spTree>
    <p:extLst>
      <p:ext uri="{BB962C8B-B14F-4D97-AF65-F5344CB8AC3E}">
        <p14:creationId xmlns:p14="http://schemas.microsoft.com/office/powerpoint/2010/main" val="2424387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485A-F9CC-6844-8CE1-78A93519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ROC threshold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E1F07-0A68-6B4D-A0D5-6284CF5A5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844824"/>
            <a:ext cx="5587082" cy="470491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D9C520-3A8B-C544-9D84-0B34AAD853DC}"/>
              </a:ext>
            </a:extLst>
          </p:cNvPr>
          <p:cNvCxnSpPr>
            <a:cxnSpLocks/>
          </p:cNvCxnSpPr>
          <p:nvPr/>
        </p:nvCxnSpPr>
        <p:spPr>
          <a:xfrm flipH="1" flipV="1">
            <a:off x="2699792" y="2780928"/>
            <a:ext cx="864096" cy="576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507528-BEA6-084C-9902-0EA7A24AD76C}"/>
              </a:ext>
            </a:extLst>
          </p:cNvPr>
          <p:cNvSpPr txBox="1"/>
          <p:nvPr/>
        </p:nvSpPr>
        <p:spPr>
          <a:xfrm>
            <a:off x="1998789" y="2120795"/>
            <a:ext cx="550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other words, point that is the closest to the left corner.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93A2E-BA7E-7C48-A8B7-BCCC1E26BBDC}"/>
              </a:ext>
            </a:extLst>
          </p:cNvPr>
          <p:cNvSpPr txBox="1"/>
          <p:nvPr/>
        </p:nvSpPr>
        <p:spPr>
          <a:xfrm>
            <a:off x="1187624" y="1691571"/>
            <a:ext cx="7299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Depends on the classification problem, but usually for high TPR and low FPR</a:t>
            </a:r>
          </a:p>
        </p:txBody>
      </p:sp>
    </p:spTree>
    <p:extLst>
      <p:ext uri="{BB962C8B-B14F-4D97-AF65-F5344CB8AC3E}">
        <p14:creationId xmlns:p14="http://schemas.microsoft.com/office/powerpoint/2010/main" val="2791145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2513-D8EB-574D-AB32-2F04814E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D2D37-1D7C-974D-B418-C492F5CCC73F}"/>
              </a:ext>
            </a:extLst>
          </p:cNvPr>
          <p:cNvSpPr/>
          <p:nvPr/>
        </p:nvSpPr>
        <p:spPr>
          <a:xfrm>
            <a:off x="1691680" y="2132856"/>
            <a:ext cx="64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 &lt;- c("a", "a", "b", "c", "c")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unique(v)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[1] "a" "b" "c"</a:t>
            </a:r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5342A730-D403-D546-A725-176F4119714A}"/>
              </a:ext>
            </a:extLst>
          </p:cNvPr>
          <p:cNvSpPr/>
          <p:nvPr/>
        </p:nvSpPr>
        <p:spPr>
          <a:xfrm>
            <a:off x="1691680" y="3885785"/>
            <a:ext cx="576064" cy="839702"/>
          </a:xfrm>
          <a:prstGeom prst="lightningBol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B25F5021-9C44-B647-873D-2C6A81F23222}"/>
              </a:ext>
            </a:extLst>
          </p:cNvPr>
          <p:cNvSpPr/>
          <p:nvPr/>
        </p:nvSpPr>
        <p:spPr>
          <a:xfrm>
            <a:off x="2411760" y="4743992"/>
            <a:ext cx="432048" cy="432048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DDBAC040-47D6-FF41-B38C-18927E85BB8D}"/>
              </a:ext>
            </a:extLst>
          </p:cNvPr>
          <p:cNvSpPr/>
          <p:nvPr/>
        </p:nvSpPr>
        <p:spPr>
          <a:xfrm>
            <a:off x="1455019" y="4825152"/>
            <a:ext cx="504056" cy="5040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859AEB7D-DD2F-F84E-A3FF-EC53C4689C87}"/>
              </a:ext>
            </a:extLst>
          </p:cNvPr>
          <p:cNvSpPr/>
          <p:nvPr/>
        </p:nvSpPr>
        <p:spPr>
          <a:xfrm rot="5115574">
            <a:off x="1897533" y="5344708"/>
            <a:ext cx="576064" cy="839702"/>
          </a:xfrm>
          <a:prstGeom prst="lightningBol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7103B4B8-1881-FE42-BD00-63DB29586412}"/>
              </a:ext>
            </a:extLst>
          </p:cNvPr>
          <p:cNvSpPr/>
          <p:nvPr/>
        </p:nvSpPr>
        <p:spPr>
          <a:xfrm>
            <a:off x="2375756" y="3938443"/>
            <a:ext cx="504056" cy="5040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0086F0EA-1A37-7A49-A0F3-81A229F2C0EF}"/>
              </a:ext>
            </a:extLst>
          </p:cNvPr>
          <p:cNvSpPr/>
          <p:nvPr/>
        </p:nvSpPr>
        <p:spPr>
          <a:xfrm>
            <a:off x="2843808" y="5512531"/>
            <a:ext cx="504056" cy="5040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9B5259-B6B7-724A-AC1B-975CE617B452}"/>
              </a:ext>
            </a:extLst>
          </p:cNvPr>
          <p:cNvCxnSpPr/>
          <p:nvPr/>
        </p:nvCxnSpPr>
        <p:spPr>
          <a:xfrm>
            <a:off x="3779912" y="4997973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Smiley Face 12">
            <a:extLst>
              <a:ext uri="{FF2B5EF4-FFF2-40B4-BE49-F238E27FC236}">
                <a16:creationId xmlns:a16="http://schemas.microsoft.com/office/drawing/2014/main" id="{5AE9BA6C-02B4-A746-A76E-AAAE415E3428}"/>
              </a:ext>
            </a:extLst>
          </p:cNvPr>
          <p:cNvSpPr/>
          <p:nvPr/>
        </p:nvSpPr>
        <p:spPr>
          <a:xfrm>
            <a:off x="6983179" y="4573124"/>
            <a:ext cx="504056" cy="50405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7328F8D-46AD-7A46-919B-FBD7F293AB7E}"/>
              </a:ext>
            </a:extLst>
          </p:cNvPr>
          <p:cNvSpPr/>
          <p:nvPr/>
        </p:nvSpPr>
        <p:spPr>
          <a:xfrm>
            <a:off x="7515956" y="4282163"/>
            <a:ext cx="576064" cy="839702"/>
          </a:xfrm>
          <a:prstGeom prst="lightningBol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2C79C06-72C0-0647-B390-9CB1CC268971}"/>
              </a:ext>
            </a:extLst>
          </p:cNvPr>
          <p:cNvSpPr/>
          <p:nvPr/>
        </p:nvSpPr>
        <p:spPr>
          <a:xfrm>
            <a:off x="6815570" y="5327712"/>
            <a:ext cx="432048" cy="432048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3215FADE-D10C-BB43-AF48-F5C36CF818AB}"/>
              </a:ext>
            </a:extLst>
          </p:cNvPr>
          <p:cNvSpPr/>
          <p:nvPr/>
        </p:nvSpPr>
        <p:spPr>
          <a:xfrm>
            <a:off x="1002022" y="5584539"/>
            <a:ext cx="432048" cy="432048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art 16">
            <a:extLst>
              <a:ext uri="{FF2B5EF4-FFF2-40B4-BE49-F238E27FC236}">
                <a16:creationId xmlns:a16="http://schemas.microsoft.com/office/drawing/2014/main" id="{75F19391-5D16-4248-A175-30E4DD3DE790}"/>
              </a:ext>
            </a:extLst>
          </p:cNvPr>
          <p:cNvSpPr/>
          <p:nvPr/>
        </p:nvSpPr>
        <p:spPr>
          <a:xfrm>
            <a:off x="6365916" y="4953690"/>
            <a:ext cx="375702" cy="384046"/>
          </a:xfrm>
          <a:prstGeom prst="hear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>
            <a:extLst>
              <a:ext uri="{FF2B5EF4-FFF2-40B4-BE49-F238E27FC236}">
                <a16:creationId xmlns:a16="http://schemas.microsoft.com/office/drawing/2014/main" id="{BEF0097C-6A37-2940-866D-3483F549A808}"/>
              </a:ext>
            </a:extLst>
          </p:cNvPr>
          <p:cNvSpPr/>
          <p:nvPr/>
        </p:nvSpPr>
        <p:spPr>
          <a:xfrm>
            <a:off x="642073" y="4613927"/>
            <a:ext cx="375702" cy="384046"/>
          </a:xfrm>
          <a:prstGeom prst="hear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1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B1E6-36BA-6944-8284-716EC64E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BDD6C-CE31-6343-8B51-466B999F1DE6}"/>
              </a:ext>
            </a:extLst>
          </p:cNvPr>
          <p:cNvSpPr/>
          <p:nvPr/>
        </p:nvSpPr>
        <p:spPr>
          <a:xfrm>
            <a:off x="539552" y="1844824"/>
            <a:ext cx="6400800" cy="1608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v1 &lt;- c("a", "b", "c", "e",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v2 &lt;- c("b", "d", "f",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union(v1, v2)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[1] "a" "b" "c" "e" "h" "d" "f"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C837B0-2719-F74D-B19C-9D806098C27C}"/>
              </a:ext>
            </a:extLst>
          </p:cNvPr>
          <p:cNvSpPr/>
          <p:nvPr/>
        </p:nvSpPr>
        <p:spPr>
          <a:xfrm>
            <a:off x="2555776" y="4005064"/>
            <a:ext cx="2016224" cy="20162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7B2872-A265-4D4F-9352-31D730DDF8AD}"/>
              </a:ext>
            </a:extLst>
          </p:cNvPr>
          <p:cNvSpPr/>
          <p:nvPr/>
        </p:nvSpPr>
        <p:spPr>
          <a:xfrm>
            <a:off x="4139952" y="4016819"/>
            <a:ext cx="2016224" cy="20162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7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29D2-B798-3949-B62D-91AD6F08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71195-E0E4-9D4E-AA99-F3884DF267C7}"/>
              </a:ext>
            </a:extLst>
          </p:cNvPr>
          <p:cNvSpPr/>
          <p:nvPr/>
        </p:nvSpPr>
        <p:spPr>
          <a:xfrm>
            <a:off x="755576" y="2060848"/>
            <a:ext cx="75425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v1 &lt;- c("a", "b", "c", "e",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v2 &lt;- c("b", "d", "f",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intersect(v1, v2)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[1] "b" "h"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1CFCA0-9FFD-834E-9134-2BF52174C1D8}"/>
              </a:ext>
            </a:extLst>
          </p:cNvPr>
          <p:cNvSpPr/>
          <p:nvPr/>
        </p:nvSpPr>
        <p:spPr>
          <a:xfrm>
            <a:off x="2483768" y="4090761"/>
            <a:ext cx="2016224" cy="201622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18608D-85DD-3949-BFBA-7E545448EF43}"/>
              </a:ext>
            </a:extLst>
          </p:cNvPr>
          <p:cNvSpPr/>
          <p:nvPr/>
        </p:nvSpPr>
        <p:spPr>
          <a:xfrm>
            <a:off x="4067944" y="4102516"/>
            <a:ext cx="2016224" cy="201622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6A5578-8C4C-274D-964C-1278507F0313}"/>
              </a:ext>
            </a:extLst>
          </p:cNvPr>
          <p:cNvCxnSpPr/>
          <p:nvPr/>
        </p:nvCxnSpPr>
        <p:spPr>
          <a:xfrm flipH="1">
            <a:off x="4283968" y="3861048"/>
            <a:ext cx="1800200" cy="1249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562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C04A-9048-1943-986A-A8FF1F6E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setdiff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6B54ED-E1A7-844F-9023-817A56937CAF}"/>
              </a:ext>
            </a:extLst>
          </p:cNvPr>
          <p:cNvSpPr/>
          <p:nvPr/>
        </p:nvSpPr>
        <p:spPr>
          <a:xfrm>
            <a:off x="539552" y="1844824"/>
            <a:ext cx="8406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v1 &lt;- c("a", "b", "c", "e",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v2 &lt;- c("b", "d", "f", "h")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setdiff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(v1, v2)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[1] "a" "c" "e"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setdiff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(v2, v1)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[1] "d" "f"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8B77C2-23F6-A942-9C8C-403C9CAD2D2F}"/>
              </a:ext>
            </a:extLst>
          </p:cNvPr>
          <p:cNvSpPr/>
          <p:nvPr/>
        </p:nvSpPr>
        <p:spPr>
          <a:xfrm>
            <a:off x="2843808" y="4369172"/>
            <a:ext cx="2016224" cy="201622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199385-8AEB-4E47-8408-23C43ACD68E1}"/>
              </a:ext>
            </a:extLst>
          </p:cNvPr>
          <p:cNvSpPr/>
          <p:nvPr/>
        </p:nvSpPr>
        <p:spPr>
          <a:xfrm>
            <a:off x="4427984" y="4380927"/>
            <a:ext cx="2016224" cy="201622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C445A1-E054-DC48-8C6A-6677AC7A6D49}"/>
              </a:ext>
            </a:extLst>
          </p:cNvPr>
          <p:cNvCxnSpPr>
            <a:cxnSpLocks/>
          </p:cNvCxnSpPr>
          <p:nvPr/>
        </p:nvCxnSpPr>
        <p:spPr>
          <a:xfrm>
            <a:off x="1763688" y="4653136"/>
            <a:ext cx="1827076" cy="414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05965F-F1D9-D349-B1B1-6347A52A78F4}"/>
              </a:ext>
            </a:extLst>
          </p:cNvPr>
          <p:cNvCxnSpPr>
            <a:cxnSpLocks/>
          </p:cNvCxnSpPr>
          <p:nvPr/>
        </p:nvCxnSpPr>
        <p:spPr>
          <a:xfrm flipH="1">
            <a:off x="5652120" y="4380927"/>
            <a:ext cx="1872208" cy="687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024433"/>
      </p:ext>
    </p:extLst>
  </p:cSld>
  <p:clrMapOvr>
    <a:masterClrMapping/>
  </p:clrMapOvr>
</p:sld>
</file>

<file path=ppt/theme/theme1.xml><?xml version="1.0" encoding="utf-8"?>
<a:theme xmlns:a="http://schemas.openxmlformats.org/drawingml/2006/main" name="UU Guldka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UU Guldkant</Template>
  <TotalTime>1134</TotalTime>
  <Words>804</Words>
  <Application>Microsoft Macintosh PowerPoint</Application>
  <PresentationFormat>On-screen Show (4:3)</PresentationFormat>
  <Paragraphs>396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Times New Roman</vt:lpstr>
      <vt:lpstr>UU Guldkant</vt:lpstr>
      <vt:lpstr>PowerPoint Presentation</vt:lpstr>
      <vt:lpstr>Assignment 4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Classification</vt:lpstr>
      <vt:lpstr>optimal ROC threshold</vt:lpstr>
      <vt:lpstr>optimal ROC threshold</vt:lpstr>
      <vt:lpstr>unique</vt:lpstr>
      <vt:lpstr>union</vt:lpstr>
      <vt:lpstr>intersect</vt:lpstr>
      <vt:lpstr>setdiff</vt:lpstr>
    </vt:vector>
  </TitlesOfParts>
  <Manager/>
  <Company>UPPSALA UNIVERSITET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subject/>
  <dc:creator>KOMMUNIKATIONSAVDELNINGEN</dc:creator>
  <cp:keywords/>
  <dc:description/>
  <cp:lastModifiedBy>Girish Pulinkala</cp:lastModifiedBy>
  <cp:revision>183</cp:revision>
  <dcterms:created xsi:type="dcterms:W3CDTF">2013-08-22T05:59:05Z</dcterms:created>
  <dcterms:modified xsi:type="dcterms:W3CDTF">2026-02-04T08:20:43Z</dcterms:modified>
  <cp:category/>
</cp:coreProperties>
</file>